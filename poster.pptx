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56" r:id="rId2"/>
  </p:sldIdLst>
  <p:sldSz cx="16002000" cy="22631400"/>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7128">
          <p15:clr>
            <a:srgbClr val="A4A3A4"/>
          </p15:clr>
        </p15:guide>
        <p15:guide id="2" pos="50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5465"/>
    <a:srgbClr val="CF8D85"/>
    <a:srgbClr val="EAEAEA"/>
    <a:srgbClr val="DDDDDD"/>
    <a:srgbClr val="21596A"/>
    <a:srgbClr val="18385F"/>
    <a:srgbClr val="958C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C64206-AA8C-4E14-86B4-E475C646CFDF}" v="40" dt="2026-03-21T18:51:19.4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32787"/>
    <p:restoredTop sz="90929"/>
  </p:normalViewPr>
  <p:slideViewPr>
    <p:cSldViewPr snapToObjects="1">
      <p:cViewPr>
        <p:scale>
          <a:sx n="66" d="100"/>
          <a:sy n="66" d="100"/>
        </p:scale>
        <p:origin x="989" y="-691"/>
      </p:cViewPr>
      <p:guideLst>
        <p:guide orient="horz" pos="7128"/>
        <p:guide pos="50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GB" altLang="en-US"/>
          </a:p>
        </p:txBody>
      </p:sp>
      <p:sp>
        <p:nvSpPr>
          <p:cNvPr id="717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GB" altLang="en-US"/>
          </a:p>
        </p:txBody>
      </p:sp>
      <p:sp>
        <p:nvSpPr>
          <p:cNvPr id="717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GB" altLang="en-US"/>
          </a:p>
        </p:txBody>
      </p:sp>
      <p:sp>
        <p:nvSpPr>
          <p:cNvPr id="717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466D6BA-D8D8-400B-A609-77A3C3244C23}"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GB" altLang="en-US"/>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GB" altLang="en-US"/>
          </a:p>
        </p:txBody>
      </p:sp>
      <p:sp>
        <p:nvSpPr>
          <p:cNvPr id="1028" name="Rectangle 4"/>
          <p:cNvSpPr>
            <a:spLocks noGrp="1" noRot="1" noChangeAspect="1" noChangeArrowheads="1" noTextEdit="1"/>
          </p:cNvSpPr>
          <p:nvPr>
            <p:ph type="sldImg" idx="2"/>
          </p:nvPr>
        </p:nvSpPr>
        <p:spPr bwMode="auto">
          <a:xfrm>
            <a:off x="2216150" y="685800"/>
            <a:ext cx="24257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GB" alt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2CB40C4-7C83-4CF0-9687-64082D456C95}"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FB4E557-351F-47DD-AF5E-DAE2B99931A6}" type="slidenum">
              <a:rPr lang="en-GB" altLang="en-US" sz="1200" smtClean="0"/>
              <a:pPr/>
              <a:t>1</a:t>
            </a:fld>
            <a:endParaRPr lang="en-GB" altLang="en-US" sz="1200"/>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000250" y="3703638"/>
            <a:ext cx="12001500" cy="7878762"/>
          </a:xfrm>
          <a:prstGeom prst="rect">
            <a:avLst/>
          </a:prstGeom>
        </p:spPr>
        <p:txBody>
          <a:bodyPr anchor="b"/>
          <a:lstStyle>
            <a:lvl1pPr algn="ctr">
              <a:defRPr sz="6000"/>
            </a:lvl1pPr>
          </a:lstStyle>
          <a:p>
            <a:r>
              <a:rPr lang="zh-CN" altLang="en-US"/>
              <a:t>单击此处编辑母版标题样式</a:t>
            </a:r>
            <a:endParaRPr lang="en-GB"/>
          </a:p>
        </p:txBody>
      </p:sp>
      <p:sp>
        <p:nvSpPr>
          <p:cNvPr id="3" name="Subtitle 2"/>
          <p:cNvSpPr>
            <a:spLocks noGrp="1"/>
          </p:cNvSpPr>
          <p:nvPr>
            <p:ph type="subTitle" idx="1"/>
          </p:nvPr>
        </p:nvSpPr>
        <p:spPr>
          <a:xfrm>
            <a:off x="2000250" y="11887200"/>
            <a:ext cx="12001500" cy="546417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GB"/>
          </a:p>
        </p:txBody>
      </p:sp>
    </p:spTree>
    <p:extLst>
      <p:ext uri="{BB962C8B-B14F-4D97-AF65-F5344CB8AC3E}">
        <p14:creationId xmlns:p14="http://schemas.microsoft.com/office/powerpoint/2010/main" val="125318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100138" y="1204913"/>
            <a:ext cx="13801725" cy="4375150"/>
          </a:xfrm>
          <a:prstGeom prst="rect">
            <a:avLst/>
          </a:prstGeom>
        </p:spPr>
        <p:txBody>
          <a:bodyPr/>
          <a:lstStyle/>
          <a:p>
            <a:r>
              <a:rPr lang="zh-CN" altLang="en-US"/>
              <a:t>单击此处编辑母版标题样式</a:t>
            </a:r>
            <a:endParaRPr lang="en-GB"/>
          </a:p>
        </p:txBody>
      </p:sp>
      <p:sp>
        <p:nvSpPr>
          <p:cNvPr id="3" name="Content Placeholder 2"/>
          <p:cNvSpPr>
            <a:spLocks noGrp="1"/>
          </p:cNvSpPr>
          <p:nvPr>
            <p:ph idx="1"/>
          </p:nvPr>
        </p:nvSpPr>
        <p:spPr>
          <a:xfrm>
            <a:off x="1100138" y="6024563"/>
            <a:ext cx="13801725" cy="143589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GB"/>
          </a:p>
        </p:txBody>
      </p:sp>
    </p:spTree>
    <p:extLst>
      <p:ext uri="{BB962C8B-B14F-4D97-AF65-F5344CB8AC3E}">
        <p14:creationId xmlns:p14="http://schemas.microsoft.com/office/powerpoint/2010/main" val="4205638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092200" y="5641975"/>
            <a:ext cx="13801725" cy="9413875"/>
          </a:xfrm>
          <a:prstGeom prst="rect">
            <a:avLst/>
          </a:prstGeom>
        </p:spPr>
        <p:txBody>
          <a:bodyPr anchor="b"/>
          <a:lstStyle>
            <a:lvl1pPr>
              <a:defRPr sz="6000"/>
            </a:lvl1pPr>
          </a:lstStyle>
          <a:p>
            <a:r>
              <a:rPr lang="zh-CN" altLang="en-US"/>
              <a:t>单击此处编辑母版标题样式</a:t>
            </a:r>
            <a:endParaRPr lang="en-GB"/>
          </a:p>
        </p:txBody>
      </p:sp>
      <p:sp>
        <p:nvSpPr>
          <p:cNvPr id="3" name="Text Placeholder 2"/>
          <p:cNvSpPr>
            <a:spLocks noGrp="1"/>
          </p:cNvSpPr>
          <p:nvPr>
            <p:ph type="body" idx="1"/>
          </p:nvPr>
        </p:nvSpPr>
        <p:spPr>
          <a:xfrm>
            <a:off x="1092200" y="15144750"/>
            <a:ext cx="13801725" cy="4951413"/>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1628047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100138" y="1204913"/>
            <a:ext cx="13801725" cy="4375150"/>
          </a:xfrm>
          <a:prstGeom prst="rect">
            <a:avLst/>
          </a:prstGeom>
        </p:spPr>
        <p:txBody>
          <a:bodyPr/>
          <a:lstStyle/>
          <a:p>
            <a:r>
              <a:rPr lang="zh-CN" altLang="en-US"/>
              <a:t>单击此处编辑母版标题样式</a:t>
            </a:r>
            <a:endParaRPr lang="en-GB"/>
          </a:p>
        </p:txBody>
      </p:sp>
      <p:sp>
        <p:nvSpPr>
          <p:cNvPr id="3" name="Content Placeholder 2"/>
          <p:cNvSpPr>
            <a:spLocks noGrp="1"/>
          </p:cNvSpPr>
          <p:nvPr>
            <p:ph sz="half" idx="1"/>
          </p:nvPr>
        </p:nvSpPr>
        <p:spPr>
          <a:xfrm>
            <a:off x="1100138" y="6024563"/>
            <a:ext cx="6824662" cy="143589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GB"/>
          </a:p>
        </p:txBody>
      </p:sp>
      <p:sp>
        <p:nvSpPr>
          <p:cNvPr id="4" name="Content Placeholder 3"/>
          <p:cNvSpPr>
            <a:spLocks noGrp="1"/>
          </p:cNvSpPr>
          <p:nvPr>
            <p:ph sz="half" idx="2"/>
          </p:nvPr>
        </p:nvSpPr>
        <p:spPr>
          <a:xfrm>
            <a:off x="8077200" y="6024563"/>
            <a:ext cx="6824663" cy="143589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GB"/>
          </a:p>
        </p:txBody>
      </p:sp>
    </p:spTree>
    <p:extLst>
      <p:ext uri="{BB962C8B-B14F-4D97-AF65-F5344CB8AC3E}">
        <p14:creationId xmlns:p14="http://schemas.microsoft.com/office/powerpoint/2010/main" val="2485565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101725" y="1204913"/>
            <a:ext cx="13801725" cy="4375150"/>
          </a:xfrm>
          <a:prstGeom prst="rect">
            <a:avLst/>
          </a:prstGeom>
        </p:spPr>
        <p:txBody>
          <a:bodyPr/>
          <a:lstStyle/>
          <a:p>
            <a:r>
              <a:rPr lang="zh-CN" altLang="en-US"/>
              <a:t>单击此处编辑母版标题样式</a:t>
            </a:r>
            <a:endParaRPr lang="en-GB"/>
          </a:p>
        </p:txBody>
      </p:sp>
      <p:sp>
        <p:nvSpPr>
          <p:cNvPr id="3" name="Text Placeholder 2"/>
          <p:cNvSpPr>
            <a:spLocks noGrp="1"/>
          </p:cNvSpPr>
          <p:nvPr>
            <p:ph type="body" idx="1"/>
          </p:nvPr>
        </p:nvSpPr>
        <p:spPr>
          <a:xfrm>
            <a:off x="1101725" y="5548313"/>
            <a:ext cx="6770688" cy="27178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01725" y="8266113"/>
            <a:ext cx="6770688" cy="121602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GB"/>
          </a:p>
        </p:txBody>
      </p:sp>
      <p:sp>
        <p:nvSpPr>
          <p:cNvPr id="5" name="Text Placeholder 4"/>
          <p:cNvSpPr>
            <a:spLocks noGrp="1"/>
          </p:cNvSpPr>
          <p:nvPr>
            <p:ph type="body" sz="quarter" idx="3"/>
          </p:nvPr>
        </p:nvSpPr>
        <p:spPr>
          <a:xfrm>
            <a:off x="8101013" y="5548313"/>
            <a:ext cx="6802437" cy="27178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8101013" y="8266113"/>
            <a:ext cx="6802437" cy="121602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GB"/>
          </a:p>
        </p:txBody>
      </p:sp>
    </p:spTree>
    <p:extLst>
      <p:ext uri="{BB962C8B-B14F-4D97-AF65-F5344CB8AC3E}">
        <p14:creationId xmlns:p14="http://schemas.microsoft.com/office/powerpoint/2010/main" val="1990835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1100138" y="1204913"/>
            <a:ext cx="13801725" cy="4375150"/>
          </a:xfrm>
          <a:prstGeom prst="rect">
            <a:avLst/>
          </a:prstGeom>
        </p:spPr>
        <p:txBody>
          <a:bodyPr/>
          <a:lstStyle/>
          <a:p>
            <a:r>
              <a:rPr lang="zh-CN" altLang="en-US"/>
              <a:t>单击此处编辑母版标题样式</a:t>
            </a:r>
            <a:endParaRPr lang="en-GB"/>
          </a:p>
        </p:txBody>
      </p:sp>
    </p:spTree>
    <p:extLst>
      <p:ext uri="{BB962C8B-B14F-4D97-AF65-F5344CB8AC3E}">
        <p14:creationId xmlns:p14="http://schemas.microsoft.com/office/powerpoint/2010/main" val="3221961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2544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01725" y="1508125"/>
            <a:ext cx="5160963" cy="5281613"/>
          </a:xfrm>
          <a:prstGeom prst="rect">
            <a:avLst/>
          </a:prstGeom>
        </p:spPr>
        <p:txBody>
          <a:bodyPr anchor="b"/>
          <a:lstStyle>
            <a:lvl1pPr>
              <a:defRPr sz="3200"/>
            </a:lvl1pPr>
          </a:lstStyle>
          <a:p>
            <a:r>
              <a:rPr lang="zh-CN" altLang="en-US"/>
              <a:t>单击此处编辑母版标题样式</a:t>
            </a:r>
            <a:endParaRPr lang="en-GB"/>
          </a:p>
        </p:txBody>
      </p:sp>
      <p:sp>
        <p:nvSpPr>
          <p:cNvPr id="3" name="Content Placeholder 2"/>
          <p:cNvSpPr>
            <a:spLocks noGrp="1"/>
          </p:cNvSpPr>
          <p:nvPr>
            <p:ph idx="1"/>
          </p:nvPr>
        </p:nvSpPr>
        <p:spPr>
          <a:xfrm>
            <a:off x="6802438" y="3259138"/>
            <a:ext cx="8101012" cy="160829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GB"/>
          </a:p>
        </p:txBody>
      </p:sp>
      <p:sp>
        <p:nvSpPr>
          <p:cNvPr id="4" name="Text Placeholder 3"/>
          <p:cNvSpPr>
            <a:spLocks noGrp="1"/>
          </p:cNvSpPr>
          <p:nvPr>
            <p:ph type="body" sz="half" idx="2"/>
          </p:nvPr>
        </p:nvSpPr>
        <p:spPr>
          <a:xfrm>
            <a:off x="1101725" y="6789738"/>
            <a:ext cx="5160963" cy="1257776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139509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01725" y="1508125"/>
            <a:ext cx="5160963" cy="5281613"/>
          </a:xfrm>
          <a:prstGeom prst="rect">
            <a:avLst/>
          </a:prstGeom>
        </p:spPr>
        <p:txBody>
          <a:bodyPr anchor="b"/>
          <a:lstStyle>
            <a:lvl1pPr>
              <a:defRPr sz="3200"/>
            </a:lvl1pPr>
          </a:lstStyle>
          <a:p>
            <a:r>
              <a:rPr lang="zh-CN" altLang="en-US"/>
              <a:t>单击此处编辑母版标题样式</a:t>
            </a:r>
            <a:endParaRPr lang="en-GB"/>
          </a:p>
        </p:txBody>
      </p:sp>
      <p:sp>
        <p:nvSpPr>
          <p:cNvPr id="3" name="Picture Placeholder 2"/>
          <p:cNvSpPr>
            <a:spLocks noGrp="1"/>
          </p:cNvSpPr>
          <p:nvPr>
            <p:ph type="pic" idx="1"/>
          </p:nvPr>
        </p:nvSpPr>
        <p:spPr>
          <a:xfrm>
            <a:off x="6802438" y="3259138"/>
            <a:ext cx="8101012" cy="16082962"/>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GB" noProof="0"/>
          </a:p>
        </p:txBody>
      </p:sp>
      <p:sp>
        <p:nvSpPr>
          <p:cNvPr id="4" name="Text Placeholder 3"/>
          <p:cNvSpPr>
            <a:spLocks noGrp="1"/>
          </p:cNvSpPr>
          <p:nvPr>
            <p:ph type="body" sz="half" idx="2"/>
          </p:nvPr>
        </p:nvSpPr>
        <p:spPr>
          <a:xfrm>
            <a:off x="1101725" y="6789738"/>
            <a:ext cx="5160963" cy="1257776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3291200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1100138" y="1204913"/>
            <a:ext cx="13801725" cy="4375150"/>
          </a:xfrm>
          <a:prstGeom prst="rect">
            <a:avLst/>
          </a:prstGeom>
        </p:spPr>
        <p:txBody>
          <a:bodyPr/>
          <a:lstStyle/>
          <a:p>
            <a:r>
              <a:rPr lang="zh-CN" altLang="en-US"/>
              <a:t>单击此处编辑母版标题样式</a:t>
            </a:r>
            <a:endParaRPr lang="en-GB"/>
          </a:p>
        </p:txBody>
      </p:sp>
      <p:sp>
        <p:nvSpPr>
          <p:cNvPr id="3" name="Vertical Text Placeholder 2"/>
          <p:cNvSpPr>
            <a:spLocks noGrp="1"/>
          </p:cNvSpPr>
          <p:nvPr>
            <p:ph type="body" orient="vert" idx="1"/>
          </p:nvPr>
        </p:nvSpPr>
        <p:spPr>
          <a:xfrm>
            <a:off x="1100138" y="6024563"/>
            <a:ext cx="13801725" cy="14358937"/>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GB"/>
          </a:p>
        </p:txBody>
      </p:sp>
    </p:spTree>
    <p:extLst>
      <p:ext uri="{BB962C8B-B14F-4D97-AF65-F5344CB8AC3E}">
        <p14:creationId xmlns:p14="http://schemas.microsoft.com/office/powerpoint/2010/main" val="1993146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452225" y="1204913"/>
            <a:ext cx="3449638" cy="19178587"/>
          </a:xfrm>
          <a:prstGeom prst="rect">
            <a:avLst/>
          </a:prstGeom>
        </p:spPr>
        <p:txBody>
          <a:bodyPr vert="eaVert"/>
          <a:lstStyle/>
          <a:p>
            <a:r>
              <a:rPr lang="zh-CN" altLang="en-US"/>
              <a:t>单击此处编辑母版标题样式</a:t>
            </a:r>
            <a:endParaRPr lang="en-GB"/>
          </a:p>
        </p:txBody>
      </p:sp>
      <p:sp>
        <p:nvSpPr>
          <p:cNvPr id="3" name="Vertical Text Placeholder 2"/>
          <p:cNvSpPr>
            <a:spLocks noGrp="1"/>
          </p:cNvSpPr>
          <p:nvPr>
            <p:ph type="body" orient="vert" idx="1"/>
          </p:nvPr>
        </p:nvSpPr>
        <p:spPr>
          <a:xfrm>
            <a:off x="1100138" y="1204913"/>
            <a:ext cx="10199687" cy="19178587"/>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GB"/>
          </a:p>
        </p:txBody>
      </p:sp>
    </p:spTree>
    <p:extLst>
      <p:ext uri="{BB962C8B-B14F-4D97-AF65-F5344CB8AC3E}">
        <p14:creationId xmlns:p14="http://schemas.microsoft.com/office/powerpoint/2010/main" val="922866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208213" rtl="0" eaLnBrk="1" fontAlgn="base" hangingPunct="1">
        <a:spcBef>
          <a:spcPct val="0"/>
        </a:spcBef>
        <a:spcAft>
          <a:spcPct val="0"/>
        </a:spcAft>
        <a:defRPr sz="6000" kern="1200">
          <a:solidFill>
            <a:srgbClr val="21596A"/>
          </a:solidFill>
          <a:effectLst>
            <a:outerShdw blurRad="38100" dist="38100" dir="2700000" algn="tl">
              <a:srgbClr val="C0C0C0"/>
            </a:outerShdw>
          </a:effectLst>
          <a:latin typeface="+mj-lt"/>
          <a:ea typeface="+mj-ea"/>
          <a:cs typeface="+mj-cs"/>
        </a:defRPr>
      </a:lvl1pPr>
      <a:lvl2pPr algn="l" defTabSz="2208213" rtl="0" eaLnBrk="1" fontAlgn="base" hangingPunct="1">
        <a:spcBef>
          <a:spcPct val="0"/>
        </a:spcBef>
        <a:spcAft>
          <a:spcPct val="0"/>
        </a:spcAft>
        <a:defRPr sz="6000">
          <a:solidFill>
            <a:srgbClr val="21596A"/>
          </a:solidFill>
          <a:effectLst>
            <a:outerShdw blurRad="38100" dist="38100" dir="2700000" algn="tl">
              <a:srgbClr val="C0C0C0"/>
            </a:outerShdw>
          </a:effectLst>
          <a:latin typeface="Book Antiqua" panose="02040602050305030304" pitchFamily="18" charset="0"/>
        </a:defRPr>
      </a:lvl2pPr>
      <a:lvl3pPr algn="l" defTabSz="2208213" rtl="0" eaLnBrk="1" fontAlgn="base" hangingPunct="1">
        <a:spcBef>
          <a:spcPct val="0"/>
        </a:spcBef>
        <a:spcAft>
          <a:spcPct val="0"/>
        </a:spcAft>
        <a:defRPr sz="6000">
          <a:solidFill>
            <a:srgbClr val="21596A"/>
          </a:solidFill>
          <a:effectLst>
            <a:outerShdw blurRad="38100" dist="38100" dir="2700000" algn="tl">
              <a:srgbClr val="C0C0C0"/>
            </a:outerShdw>
          </a:effectLst>
          <a:latin typeface="Book Antiqua" panose="02040602050305030304" pitchFamily="18" charset="0"/>
        </a:defRPr>
      </a:lvl3pPr>
      <a:lvl4pPr algn="l" defTabSz="2208213" rtl="0" eaLnBrk="1" fontAlgn="base" hangingPunct="1">
        <a:spcBef>
          <a:spcPct val="0"/>
        </a:spcBef>
        <a:spcAft>
          <a:spcPct val="0"/>
        </a:spcAft>
        <a:defRPr sz="6000">
          <a:solidFill>
            <a:srgbClr val="21596A"/>
          </a:solidFill>
          <a:effectLst>
            <a:outerShdw blurRad="38100" dist="38100" dir="2700000" algn="tl">
              <a:srgbClr val="C0C0C0"/>
            </a:outerShdw>
          </a:effectLst>
          <a:latin typeface="Book Antiqua" panose="02040602050305030304" pitchFamily="18" charset="0"/>
        </a:defRPr>
      </a:lvl4pPr>
      <a:lvl5pPr algn="l" defTabSz="2208213" rtl="0" eaLnBrk="1" fontAlgn="base" hangingPunct="1">
        <a:spcBef>
          <a:spcPct val="0"/>
        </a:spcBef>
        <a:spcAft>
          <a:spcPct val="0"/>
        </a:spcAft>
        <a:defRPr sz="6000">
          <a:solidFill>
            <a:srgbClr val="21596A"/>
          </a:solidFill>
          <a:effectLst>
            <a:outerShdw blurRad="38100" dist="38100" dir="2700000" algn="tl">
              <a:srgbClr val="C0C0C0"/>
            </a:outerShdw>
          </a:effectLst>
          <a:latin typeface="Book Antiqua" panose="02040602050305030304" pitchFamily="18" charset="0"/>
        </a:defRPr>
      </a:lvl5pPr>
      <a:lvl6pPr marL="457200" algn="l" defTabSz="2208213" rtl="0" eaLnBrk="1" fontAlgn="base" hangingPunct="1">
        <a:spcBef>
          <a:spcPct val="0"/>
        </a:spcBef>
        <a:spcAft>
          <a:spcPct val="0"/>
        </a:spcAft>
        <a:defRPr sz="6000">
          <a:solidFill>
            <a:srgbClr val="21596A"/>
          </a:solidFill>
          <a:effectLst>
            <a:outerShdw blurRad="38100" dist="38100" dir="2700000" algn="tl">
              <a:srgbClr val="C0C0C0"/>
            </a:outerShdw>
          </a:effectLst>
          <a:latin typeface="Book Antiqua" panose="02040602050305030304" pitchFamily="18" charset="0"/>
        </a:defRPr>
      </a:lvl6pPr>
      <a:lvl7pPr marL="914400" algn="l" defTabSz="2208213" rtl="0" eaLnBrk="1" fontAlgn="base" hangingPunct="1">
        <a:spcBef>
          <a:spcPct val="0"/>
        </a:spcBef>
        <a:spcAft>
          <a:spcPct val="0"/>
        </a:spcAft>
        <a:defRPr sz="6000">
          <a:solidFill>
            <a:srgbClr val="21596A"/>
          </a:solidFill>
          <a:effectLst>
            <a:outerShdw blurRad="38100" dist="38100" dir="2700000" algn="tl">
              <a:srgbClr val="C0C0C0"/>
            </a:outerShdw>
          </a:effectLst>
          <a:latin typeface="Book Antiqua" panose="02040602050305030304" pitchFamily="18" charset="0"/>
        </a:defRPr>
      </a:lvl7pPr>
      <a:lvl8pPr marL="1371600" algn="l" defTabSz="2208213" rtl="0" eaLnBrk="1" fontAlgn="base" hangingPunct="1">
        <a:spcBef>
          <a:spcPct val="0"/>
        </a:spcBef>
        <a:spcAft>
          <a:spcPct val="0"/>
        </a:spcAft>
        <a:defRPr sz="6000">
          <a:solidFill>
            <a:srgbClr val="21596A"/>
          </a:solidFill>
          <a:effectLst>
            <a:outerShdw blurRad="38100" dist="38100" dir="2700000" algn="tl">
              <a:srgbClr val="C0C0C0"/>
            </a:outerShdw>
          </a:effectLst>
          <a:latin typeface="Book Antiqua" panose="02040602050305030304" pitchFamily="18" charset="0"/>
        </a:defRPr>
      </a:lvl8pPr>
      <a:lvl9pPr marL="1828800" algn="l" defTabSz="2208213" rtl="0" eaLnBrk="1" fontAlgn="base" hangingPunct="1">
        <a:spcBef>
          <a:spcPct val="0"/>
        </a:spcBef>
        <a:spcAft>
          <a:spcPct val="0"/>
        </a:spcAft>
        <a:defRPr sz="6000">
          <a:solidFill>
            <a:srgbClr val="21596A"/>
          </a:solidFill>
          <a:effectLst>
            <a:outerShdw blurRad="38100" dist="38100" dir="2700000" algn="tl">
              <a:srgbClr val="C0C0C0"/>
            </a:outerShdw>
          </a:effectLst>
          <a:latin typeface="Book Antiqua" panose="02040602050305030304" pitchFamily="18" charset="0"/>
        </a:defRPr>
      </a:lvl9pPr>
    </p:titleStyle>
    <p:bodyStyle>
      <a:lvl1pPr marL="827088" indent="-827088" algn="l" defTabSz="2208213" rtl="0" eaLnBrk="1" fontAlgn="base" hangingPunct="1">
        <a:spcBef>
          <a:spcPct val="20000"/>
        </a:spcBef>
        <a:spcAft>
          <a:spcPct val="0"/>
        </a:spcAft>
        <a:buChar char="•"/>
        <a:defRPr sz="7700" kern="1200">
          <a:solidFill>
            <a:schemeClr val="tx1"/>
          </a:solidFill>
          <a:latin typeface="+mn-lt"/>
          <a:ea typeface="+mn-ea"/>
          <a:cs typeface="+mn-cs"/>
        </a:defRPr>
      </a:lvl1pPr>
      <a:lvl2pPr marL="1793875" indent="-690563" algn="l" defTabSz="2208213" rtl="0" eaLnBrk="1" fontAlgn="base" hangingPunct="1">
        <a:spcBef>
          <a:spcPct val="20000"/>
        </a:spcBef>
        <a:spcAft>
          <a:spcPct val="0"/>
        </a:spcAft>
        <a:buChar char="–"/>
        <a:defRPr sz="6800" kern="1200">
          <a:solidFill>
            <a:schemeClr val="tx1"/>
          </a:solidFill>
          <a:latin typeface="+mn-lt"/>
          <a:ea typeface="+mn-ea"/>
          <a:cs typeface="+mn-cs"/>
        </a:defRPr>
      </a:lvl2pPr>
      <a:lvl3pPr marL="2759075" indent="-550863" algn="l" defTabSz="2208213" rtl="0" eaLnBrk="1" fontAlgn="base" hangingPunct="1">
        <a:spcBef>
          <a:spcPct val="20000"/>
        </a:spcBef>
        <a:spcAft>
          <a:spcPct val="0"/>
        </a:spcAft>
        <a:buChar char="•"/>
        <a:defRPr sz="5800" kern="1200">
          <a:solidFill>
            <a:schemeClr val="tx1"/>
          </a:solidFill>
          <a:latin typeface="+mn-lt"/>
          <a:ea typeface="+mn-ea"/>
          <a:cs typeface="+mn-cs"/>
        </a:defRPr>
      </a:lvl3pPr>
      <a:lvl4pPr marL="3863975" indent="-552450" algn="l" defTabSz="2208213" rtl="0" eaLnBrk="1" fontAlgn="base" hangingPunct="1">
        <a:spcBef>
          <a:spcPct val="20000"/>
        </a:spcBef>
        <a:spcAft>
          <a:spcPct val="0"/>
        </a:spcAft>
        <a:buChar char="–"/>
        <a:defRPr sz="4800" kern="1200">
          <a:solidFill>
            <a:schemeClr val="tx1"/>
          </a:solidFill>
          <a:latin typeface="+mn-lt"/>
          <a:ea typeface="+mn-ea"/>
          <a:cs typeface="+mn-cs"/>
        </a:defRPr>
      </a:lvl4pPr>
      <a:lvl5pPr marL="4967288" indent="-552450" algn="l" defTabSz="2208213" rtl="0" eaLnBrk="1" fontAlgn="base" hangingPunct="1">
        <a:spcBef>
          <a:spcPct val="20000"/>
        </a:spcBef>
        <a:spcAft>
          <a:spcPct val="0"/>
        </a:spcAft>
        <a:buChar char="»"/>
        <a:defRPr sz="4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i.org/10.1057/ejis.2008.15"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doi.org/10.4018/IJSWIS.34403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0" y="-28575"/>
            <a:ext cx="16002000" cy="3351213"/>
          </a:xfrm>
          <a:prstGeom prst="rect">
            <a:avLst/>
          </a:prstGeom>
          <a:solidFill>
            <a:srgbClr val="4354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3" name="Rectangle 2"/>
          <p:cNvSpPr/>
          <p:nvPr/>
        </p:nvSpPr>
        <p:spPr>
          <a:xfrm>
            <a:off x="0" y="19354800"/>
            <a:ext cx="16002000" cy="3276600"/>
          </a:xfrm>
          <a:prstGeom prst="rect">
            <a:avLst/>
          </a:prstGeom>
          <a:solidFill>
            <a:srgbClr val="4354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2065" name="Text Box 17"/>
          <p:cNvSpPr txBox="1">
            <a:spLocks noChangeArrowheads="1"/>
          </p:cNvSpPr>
          <p:nvPr/>
        </p:nvSpPr>
        <p:spPr bwMode="auto">
          <a:xfrm>
            <a:off x="533400" y="8310563"/>
            <a:ext cx="7248525" cy="8458200"/>
          </a:xfrm>
          <a:prstGeom prst="rect">
            <a:avLst/>
          </a:prstGeom>
          <a:noFill/>
          <a:ln>
            <a:noFill/>
          </a:ln>
          <a:effectLst/>
          <a:extLst>
            <a:ext uri="{909E8E84-426E-40DD-AFC4-6F175D3DCCD1}">
              <a14:hiddenFill xmlns:a14="http://schemas.microsoft.com/office/drawing/2010/main">
                <a:solidFill>
                  <a:srgbClr val="21596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r>
              <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rPr>
              <a:t>Introduction</a:t>
            </a:r>
          </a:p>
          <a:p>
            <a:pPr algn="just" eaLnBrk="1" hangingPunct="1">
              <a:defRPr/>
            </a:pPr>
            <a:r>
              <a:rPr lang="en-US" altLang="zh-CN" sz="1600" dirty="0"/>
              <a:t>Customer service has evolved from human interaction to AI-driven systems. While human agents provide empathy, they are limited in efficiency and scalability. With advances in RAG and LLMs, AI systems can now deliver faster and more accurate support. This study explores whether AI can surpass human service in after-sales contexts.</a:t>
            </a: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IE" altLang="en-US" sz="1600" dirty="0">
              <a:latin typeface="Leelawadee UI" panose="020B0502040204020203" pitchFamily="34" charset="-34"/>
              <a:cs typeface="Leelawadee UI" panose="020B0502040204020203" pitchFamily="34" charset="-34"/>
            </a:endParaRPr>
          </a:p>
          <a:p>
            <a:pPr eaLnBrk="1" hangingPunct="1">
              <a:defRPr/>
            </a:pPr>
            <a:r>
              <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rPr>
              <a:t>Research Objectives and Questions</a:t>
            </a:r>
          </a:p>
          <a:p>
            <a:pPr algn="just" eaLnBrk="1" hangingPunct="1">
              <a:defRPr/>
            </a:pPr>
            <a:r>
              <a:rPr lang="en-US" altLang="zh-CN" sz="1600" dirty="0"/>
              <a:t>This study aims to compare AI-based and human customer service in e-commerce. It focuses on three aspects:</a:t>
            </a:r>
            <a:endParaRPr lang="en-IE" altLang="en-US" sz="1600" dirty="0">
              <a:latin typeface="Leelawadee UI" panose="020B0502040204020203" pitchFamily="34" charset="-34"/>
              <a:cs typeface="Leelawadee UI" panose="020B0502040204020203" pitchFamily="34" charset="-34"/>
            </a:endParaRPr>
          </a:p>
          <a:p>
            <a:pPr algn="just" eaLnBrk="1" hangingPunct="1">
              <a:defRPr/>
            </a:pPr>
            <a:endParaRPr lang="en-IE" altLang="en-US" sz="1600" dirty="0">
              <a:latin typeface="Leelawadee UI" panose="020B0502040204020203" pitchFamily="34" charset="-34"/>
              <a:cs typeface="Leelawadee UI" panose="020B0502040204020203" pitchFamily="34" charset="-34"/>
            </a:endParaRPr>
          </a:p>
          <a:p>
            <a:pPr algn="just" eaLnBrk="1" hangingPunct="1">
              <a:defRPr/>
            </a:pPr>
            <a:r>
              <a:rPr lang="en-US" altLang="zh-CN" sz="1600" dirty="0"/>
              <a:t>RQ1: How does AI customer service based on LLM and RAG compare with traditional manual customer service in terms of perceived response efficiency within the after-sales consultation process of e-commerce platforms?</a:t>
            </a:r>
          </a:p>
          <a:p>
            <a:pPr algn="just" eaLnBrk="1" hangingPunct="1">
              <a:defRPr/>
            </a:pPr>
            <a:endParaRPr lang="en-US" altLang="en-US" sz="1600" dirty="0">
              <a:latin typeface="Leelawadee UI" panose="020B0502040204020203" pitchFamily="34" charset="-34"/>
              <a:cs typeface="Leelawadee UI" panose="020B0502040204020203" pitchFamily="34" charset="-34"/>
            </a:endParaRPr>
          </a:p>
          <a:p>
            <a:pPr algn="just" eaLnBrk="1" hangingPunct="1">
              <a:defRPr/>
            </a:pPr>
            <a:r>
              <a:rPr lang="en-US" altLang="zh-CN" sz="1600" dirty="0"/>
              <a:t>RQ2: How does AI customer service based on LLM and RAG compare with traditional human customer service in terms of perceived accuracy of problem resolution in after-sales service processes?</a:t>
            </a:r>
          </a:p>
          <a:p>
            <a:pPr algn="just" eaLnBrk="1" hangingPunct="1">
              <a:defRPr/>
            </a:pPr>
            <a:endParaRPr lang="en-US" altLang="en-US" sz="1600" dirty="0">
              <a:latin typeface="Leelawadee UI" panose="020B0502040204020203" pitchFamily="34" charset="-34"/>
              <a:cs typeface="Leelawadee UI" panose="020B0502040204020203" pitchFamily="34" charset="-34"/>
            </a:endParaRPr>
          </a:p>
          <a:p>
            <a:pPr algn="just" eaLnBrk="1" hangingPunct="1">
              <a:defRPr/>
            </a:pPr>
            <a:endParaRPr lang="en-US" altLang="en-US" sz="1600" dirty="0">
              <a:latin typeface="Leelawadee UI" panose="020B0502040204020203" pitchFamily="34" charset="-34"/>
              <a:cs typeface="Leelawadee UI" panose="020B0502040204020203" pitchFamily="34" charset="-34"/>
            </a:endParaRPr>
          </a:p>
          <a:p>
            <a:pPr algn="just" eaLnBrk="1" hangingPunct="1">
              <a:defRPr/>
            </a:pPr>
            <a:r>
              <a:rPr lang="en-US" altLang="zh-CN" sz="1600" dirty="0"/>
              <a:t>RQ3: In the after-sales scenario, how do AI chatbots based on LLM and RAG differ from traditional human agent channels in terms of customer satisfaction and perceived service quality?</a:t>
            </a: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18385F"/>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18385F"/>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18385F"/>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r>
              <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rPr>
              <a:t>Literature Review / State of the Art</a:t>
            </a:r>
          </a:p>
          <a:p>
            <a:pPr algn="just" eaLnBrk="1" hangingPunct="1">
              <a:defRPr/>
            </a:pPr>
            <a:r>
              <a:rPr lang="en-US" altLang="zh-CN" sz="1600" dirty="0"/>
              <a:t>Early chatbots improved efficiency but struggled with complex tasks. Recent technologies such as LLMs, RAG, and knowledge integration have enhanced AI capabilities. The </a:t>
            </a:r>
            <a:r>
              <a:rPr lang="en-US" altLang="zh-CN" sz="1600" dirty="0" err="1"/>
              <a:t>DeLone</a:t>
            </a:r>
            <a:r>
              <a:rPr lang="en-US" altLang="zh-CN" sz="1600" dirty="0"/>
              <a:t> and McLean IS Success Model provides a framework to evaluate system and service performance successfully. However, empirical comparisons between advanced AI and human service remain limited about which Information System are more successful.</a:t>
            </a: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GB" altLang="en-US" sz="1600" dirty="0">
              <a:solidFill>
                <a:schemeClr val="bg1"/>
              </a:solidFill>
              <a:latin typeface="Leelawadee UI" panose="020B0502040204020203" pitchFamily="34" charset="-34"/>
              <a:cs typeface="Leelawadee UI" panose="020B0502040204020203" pitchFamily="34" charset="-34"/>
            </a:endParaRPr>
          </a:p>
          <a:p>
            <a:pPr eaLnBrk="1" hangingPunct="1">
              <a:defRPr/>
            </a:pPr>
            <a:endParaRPr lang="en-GB" altLang="en-US" sz="1600" dirty="0">
              <a:solidFill>
                <a:schemeClr val="bg1"/>
              </a:solidFill>
              <a:latin typeface="Leelawadee UI" panose="020B0502040204020203" pitchFamily="34" charset="-34"/>
              <a:cs typeface="Leelawadee UI" panose="020B0502040204020203" pitchFamily="34" charset="-34"/>
            </a:endParaRPr>
          </a:p>
          <a:p>
            <a:pPr eaLnBrk="1" hangingPunct="1">
              <a:defRPr/>
            </a:pPr>
            <a:endParaRPr lang="en-GB" altLang="en-US" sz="1600" dirty="0">
              <a:solidFill>
                <a:schemeClr val="bg1"/>
              </a:solidFill>
              <a:latin typeface="Leelawadee UI" panose="020B0502040204020203" pitchFamily="34" charset="-34"/>
              <a:cs typeface="Leelawadee UI" panose="020B0502040204020203" pitchFamily="34" charset="-34"/>
            </a:endParaRPr>
          </a:p>
        </p:txBody>
      </p:sp>
      <p:sp>
        <p:nvSpPr>
          <p:cNvPr id="2072" name="Text Box 24"/>
          <p:cNvSpPr txBox="1">
            <a:spLocks noChangeArrowheads="1"/>
          </p:cNvSpPr>
          <p:nvPr/>
        </p:nvSpPr>
        <p:spPr bwMode="auto">
          <a:xfrm>
            <a:off x="8185084" y="3921125"/>
            <a:ext cx="7200900" cy="9448800"/>
          </a:xfrm>
          <a:prstGeom prst="rect">
            <a:avLst/>
          </a:prstGeom>
          <a:noFill/>
          <a:ln>
            <a:noFill/>
          </a:ln>
          <a:effectLst/>
          <a:extLst>
            <a:ext uri="{909E8E84-426E-40DD-AFC4-6F175D3DCCD1}">
              <a14:hiddenFill xmlns:a14="http://schemas.microsoft.com/office/drawing/2010/main">
                <a:solidFill>
                  <a:srgbClr val="21596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r>
              <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rPr>
              <a:t>Propositions / Hypotheses / Theory</a:t>
            </a:r>
          </a:p>
          <a:p>
            <a:pPr algn="just"/>
            <a:r>
              <a:rPr lang="en-US" altLang="zh-CN" dirty="0"/>
              <a:t>H1: AI customer service is perceived as more efficient than human service.</a:t>
            </a:r>
          </a:p>
          <a:p>
            <a:pPr algn="just"/>
            <a:r>
              <a:rPr lang="en-US" altLang="zh-CN" dirty="0"/>
              <a:t>H2: AI customer service is perceived as more accurate in problem resolution.</a:t>
            </a:r>
          </a:p>
          <a:p>
            <a:pPr algn="just"/>
            <a:r>
              <a:rPr lang="en-US" altLang="zh-CN" dirty="0"/>
              <a:t>H3: AI customer service leads to higher customer satisfaction than human service.</a:t>
            </a:r>
            <a:endParaRPr lang="en-IE" altLang="en-US" dirty="0">
              <a:latin typeface="Leelawadee UI" panose="020B0502040204020203" pitchFamily="34" charset="-34"/>
              <a:cs typeface="Leelawadee UI" panose="020B0502040204020203" pitchFamily="34" charset="-34"/>
            </a:endParaRPr>
          </a:p>
          <a:p>
            <a:pPr eaLnBrk="1" hangingPunct="1">
              <a:defRPr/>
            </a:pPr>
            <a:r>
              <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rPr>
              <a:t>Methodology</a:t>
            </a:r>
          </a:p>
          <a:p>
            <a:pPr algn="just" eaLnBrk="1" hangingPunct="1">
              <a:defRPr/>
            </a:pPr>
            <a:r>
              <a:rPr lang="en-US" altLang="zh-CN" dirty="0"/>
              <a:t>This study adopts a quantitative approach using a recall-based survey. Participants evaluate a past after-sales experience with either AI or human service. A between-group design is applied, and data is collected using Likert-scale measures of efficiency, accuracy, and satisfaction to test the hypotheses.</a:t>
            </a:r>
            <a:endParaRPr lang="en-IE" altLang="en-US" dirty="0">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b="1" dirty="0">
              <a:solidFill>
                <a:srgbClr val="435465"/>
              </a:solidFill>
              <a:effectLst>
                <a:outerShdw blurRad="38100" dist="38100" dir="2700000" algn="tl">
                  <a:srgbClr val="C0C0C0"/>
                </a:outerShdw>
              </a:effectLst>
              <a:latin typeface="Leelawadee UI" panose="020B0502040204020203" pitchFamily="34" charset="-34"/>
              <a:cs typeface="Leelawadee UI" panose="020B0502040204020203" pitchFamily="34" charset="-34"/>
            </a:endParaRPr>
          </a:p>
          <a:p>
            <a:pPr eaLnBrk="1" hangingPunct="1">
              <a:defRPr/>
            </a:pP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IE" altLang="en-US" sz="1600" dirty="0">
              <a:latin typeface="Leelawadee UI" panose="020B0502040204020203" pitchFamily="34" charset="-34"/>
              <a:cs typeface="Leelawadee UI" panose="020B0502040204020203" pitchFamily="34" charset="-34"/>
            </a:endParaRPr>
          </a:p>
          <a:p>
            <a:pPr eaLnBrk="1" hangingPunct="1">
              <a:defRPr/>
            </a:pPr>
            <a:endParaRPr lang="en-GB" altLang="en-US" sz="1600" dirty="0">
              <a:solidFill>
                <a:schemeClr val="bg1"/>
              </a:solidFill>
              <a:latin typeface="Leelawadee UI" panose="020B0502040204020203" pitchFamily="34" charset="-34"/>
              <a:cs typeface="Leelawadee UI" panose="020B0502040204020203" pitchFamily="34" charset="-34"/>
            </a:endParaRPr>
          </a:p>
          <a:p>
            <a:pPr eaLnBrk="1" hangingPunct="1">
              <a:defRPr/>
            </a:pPr>
            <a:endParaRPr lang="en-GB" altLang="en-US" sz="1600" dirty="0">
              <a:solidFill>
                <a:schemeClr val="bg1"/>
              </a:solidFill>
              <a:latin typeface="Leelawadee UI" panose="020B0502040204020203" pitchFamily="34" charset="-34"/>
              <a:cs typeface="Leelawadee UI" panose="020B0502040204020203" pitchFamily="34" charset="-34"/>
            </a:endParaRPr>
          </a:p>
          <a:p>
            <a:pPr eaLnBrk="1" hangingPunct="1">
              <a:defRPr/>
            </a:pPr>
            <a:endParaRPr lang="en-GB" altLang="en-US" sz="1600" dirty="0">
              <a:solidFill>
                <a:schemeClr val="bg1"/>
              </a:solidFill>
              <a:latin typeface="Leelawadee UI" panose="020B0502040204020203" pitchFamily="34" charset="-34"/>
              <a:cs typeface="Leelawadee UI" panose="020B0502040204020203" pitchFamily="34" charset="-34"/>
            </a:endParaRPr>
          </a:p>
        </p:txBody>
      </p:sp>
      <p:sp>
        <p:nvSpPr>
          <p:cNvPr id="2074" name="Text Box 26"/>
          <p:cNvSpPr txBox="1">
            <a:spLocks noChangeArrowheads="1"/>
          </p:cNvSpPr>
          <p:nvPr/>
        </p:nvSpPr>
        <p:spPr bwMode="auto">
          <a:xfrm>
            <a:off x="8336777" y="17439142"/>
            <a:ext cx="6897513" cy="1516402"/>
          </a:xfrm>
          <a:prstGeom prst="rect">
            <a:avLst/>
          </a:prstGeom>
          <a:solidFill>
            <a:srgbClr val="CF8D85"/>
          </a:solidFill>
          <a:ln>
            <a:noFill/>
          </a:ln>
          <a:effectLst/>
        </p:spPr>
        <p:txBody>
          <a:bodyPr/>
          <a:lstStyle/>
          <a:p>
            <a:pPr eaLnBrk="1" hangingPunct="1">
              <a:defRPr/>
            </a:pPr>
            <a:r>
              <a:rPr lang="en-IE" altLang="en-US" sz="1000" b="1" dirty="0">
                <a:solidFill>
                  <a:schemeClr val="bg1"/>
                </a:solidFill>
                <a:effectLst>
                  <a:outerShdw blurRad="38100" dist="38100" dir="2700000" algn="tl">
                    <a:srgbClr val="000000">
                      <a:alpha val="43137"/>
                    </a:srgbClr>
                  </a:outerShdw>
                </a:effectLst>
                <a:latin typeface="+mn-ea"/>
                <a:cs typeface="Leelawadee UI" panose="020B0502040204020203" pitchFamily="34" charset="-34"/>
              </a:rPr>
              <a:t>References</a:t>
            </a:r>
          </a:p>
          <a:p>
            <a:pPr eaLnBrk="1" hangingPunct="1">
              <a:defRPr/>
            </a:pPr>
            <a:r>
              <a:rPr lang="en-US" altLang="zh-CN" sz="1000" dirty="0">
                <a:solidFill>
                  <a:schemeClr val="bg1"/>
                </a:solidFill>
                <a:latin typeface="+mn-ea"/>
              </a:rPr>
              <a:t>Petter, S., </a:t>
            </a:r>
            <a:r>
              <a:rPr lang="en-US" altLang="zh-CN" sz="1000" dirty="0" err="1">
                <a:solidFill>
                  <a:schemeClr val="bg1"/>
                </a:solidFill>
                <a:latin typeface="+mn-ea"/>
              </a:rPr>
              <a:t>DeLone</a:t>
            </a:r>
            <a:r>
              <a:rPr lang="en-US" altLang="zh-CN" sz="1000" dirty="0">
                <a:solidFill>
                  <a:schemeClr val="bg1"/>
                </a:solidFill>
                <a:latin typeface="+mn-ea"/>
              </a:rPr>
              <a:t>, W.H. and McLean, E.R. (2008) ‘Measuring information systems success: Models, dimensions, measures, and interrelationships’, </a:t>
            </a:r>
            <a:r>
              <a:rPr lang="en-US" altLang="zh-CN" sz="1000" i="1" dirty="0">
                <a:solidFill>
                  <a:schemeClr val="bg1"/>
                </a:solidFill>
                <a:latin typeface="+mn-ea"/>
              </a:rPr>
              <a:t>European Journal of Information Systems</a:t>
            </a:r>
            <a:r>
              <a:rPr lang="en-US" altLang="zh-CN" sz="1000" dirty="0">
                <a:solidFill>
                  <a:schemeClr val="bg1"/>
                </a:solidFill>
                <a:latin typeface="+mn-ea"/>
              </a:rPr>
              <a:t>, 17(3), pp. 236–263.</a:t>
            </a:r>
            <a:r>
              <a:rPr lang="en-US" altLang="zh-CN" sz="1000" u="sng" dirty="0">
                <a:solidFill>
                  <a:srgbClr val="CCCCFF"/>
                </a:solidFill>
                <a:latin typeface="+mn-ea"/>
                <a:hlinkClick r:id="rId3">
                  <a:extLst>
                    <a:ext uri="{A12FA001-AC4F-418D-AE19-62706E023703}">
                      <ahyp:hlinkClr xmlns:ahyp="http://schemas.microsoft.com/office/drawing/2018/hyperlinkcolor" val="tx"/>
                    </a:ext>
                  </a:extLst>
                </a:hlinkClick>
              </a:rPr>
              <a:t>https</a:t>
            </a:r>
            <a:r>
              <a:rPr lang="en-US" altLang="zh-CN" sz="1000" u="sng" dirty="0">
                <a:solidFill>
                  <a:schemeClr val="bg1"/>
                </a:solidFill>
                <a:latin typeface="+mn-ea"/>
                <a:hlinkClick r:id="rId3">
                  <a:extLst>
                    <a:ext uri="{A12FA001-AC4F-418D-AE19-62706E023703}">
                      <ahyp:hlinkClr xmlns:ahyp="http://schemas.microsoft.com/office/drawing/2018/hyperlinkcolor" val="tx"/>
                    </a:ext>
                  </a:extLst>
                </a:hlinkClick>
              </a:rPr>
              <a:t>://doi.org/10.1057/ejis.2008.15</a:t>
            </a:r>
            <a:endParaRPr lang="zh-CN" altLang="zh-CN" sz="1000" dirty="0">
              <a:solidFill>
                <a:schemeClr val="bg1"/>
              </a:solidFill>
              <a:latin typeface="+mn-ea"/>
            </a:endParaRPr>
          </a:p>
          <a:p>
            <a:pPr eaLnBrk="1" hangingPunct="1">
              <a:defRPr/>
            </a:pPr>
            <a:r>
              <a:rPr lang="en-US" altLang="zh-CN" sz="1000" dirty="0">
                <a:solidFill>
                  <a:schemeClr val="bg1"/>
                </a:solidFill>
                <a:latin typeface="+mn-ea"/>
              </a:rPr>
              <a:t>Luo, X., Tong, S., Fang, Z., &amp; Qu, Z. (2019). Frontiers: Machines vs. Humans: The Impact of AI Chatbot Disclosure on Customer Purchases.</a:t>
            </a:r>
          </a:p>
          <a:p>
            <a:pPr eaLnBrk="1" hangingPunct="1">
              <a:defRPr/>
            </a:pPr>
            <a:r>
              <a:rPr lang="en-US" altLang="zh-CN" sz="1000" dirty="0" err="1">
                <a:solidFill>
                  <a:schemeClr val="bg1"/>
                </a:solidFill>
                <a:latin typeface="+mn-ea"/>
              </a:rPr>
              <a:t>Tekgoz</a:t>
            </a:r>
            <a:r>
              <a:rPr lang="en-US" altLang="zh-CN" sz="1000" dirty="0">
                <a:solidFill>
                  <a:schemeClr val="bg1"/>
                </a:solidFill>
                <a:latin typeface="+mn-ea"/>
              </a:rPr>
              <a:t>, H., Erdogan, H., Uz, H. and </a:t>
            </a:r>
            <a:r>
              <a:rPr lang="en-US" altLang="zh-CN" sz="1000" dirty="0" err="1">
                <a:solidFill>
                  <a:schemeClr val="bg1"/>
                </a:solidFill>
                <a:latin typeface="+mn-ea"/>
              </a:rPr>
              <a:t>Altinok</a:t>
            </a:r>
            <a:r>
              <a:rPr lang="en-US" altLang="zh-CN" sz="1000" dirty="0">
                <a:solidFill>
                  <a:schemeClr val="bg1"/>
                </a:solidFill>
                <a:latin typeface="+mn-ea"/>
              </a:rPr>
              <a:t>, H. (2025) ‘Evaluation of vector database and LLM models in retrieval-augmented generation (RAG) systems’, </a:t>
            </a:r>
            <a:r>
              <a:rPr lang="en-US" altLang="zh-CN" sz="1000" i="1" dirty="0">
                <a:solidFill>
                  <a:schemeClr val="bg1"/>
                </a:solidFill>
                <a:latin typeface="+mn-ea"/>
              </a:rPr>
              <a:t>International Journal on Semantic Web and Information Systems</a:t>
            </a:r>
            <a:r>
              <a:rPr lang="en-US" altLang="zh-CN" sz="1000" dirty="0">
                <a:solidFill>
                  <a:schemeClr val="bg1"/>
                </a:solidFill>
                <a:latin typeface="+mn-ea"/>
              </a:rPr>
              <a:t>, 21(1), pp. 1–18.</a:t>
            </a:r>
            <a:br>
              <a:rPr lang="en-US" altLang="zh-CN" sz="1000" dirty="0">
                <a:solidFill>
                  <a:schemeClr val="bg1"/>
                </a:solidFill>
                <a:latin typeface="+mn-ea"/>
              </a:rPr>
            </a:br>
            <a:r>
              <a:rPr lang="en-US" altLang="zh-CN" sz="1000" u="sng" dirty="0">
                <a:solidFill>
                  <a:schemeClr val="bg1"/>
                </a:solidFill>
                <a:latin typeface="+mn-ea"/>
                <a:hlinkClick r:id="rId4">
                  <a:extLst>
                    <a:ext uri="{A12FA001-AC4F-418D-AE19-62706E023703}">
                      <ahyp:hlinkClr xmlns:ahyp="http://schemas.microsoft.com/office/drawing/2018/hyperlinkcolor" val="tx"/>
                    </a:ext>
                  </a:extLst>
                </a:hlinkClick>
              </a:rPr>
              <a:t>https://doi.org/10.4018/IJSWIS.344037</a:t>
            </a:r>
            <a:endParaRPr lang="zh-CN" altLang="zh-CN" sz="1000" dirty="0">
              <a:solidFill>
                <a:schemeClr val="bg1"/>
              </a:solidFill>
              <a:latin typeface="+mn-ea"/>
            </a:endParaRPr>
          </a:p>
          <a:p>
            <a:pPr eaLnBrk="1" hangingPunct="1">
              <a:defRPr/>
            </a:pPr>
            <a:endParaRPr lang="en-US" altLang="zh-CN" sz="1000" dirty="0">
              <a:solidFill>
                <a:schemeClr val="bg1"/>
              </a:solidFill>
              <a:latin typeface="+mn-ea"/>
            </a:endParaRPr>
          </a:p>
          <a:p>
            <a:pPr eaLnBrk="1" hangingPunct="1">
              <a:defRPr/>
            </a:pPr>
            <a:endParaRPr lang="zh-CN" altLang="zh-CN" sz="1000" dirty="0">
              <a:solidFill>
                <a:schemeClr val="bg1"/>
              </a:solidFill>
              <a:latin typeface="+mn-ea"/>
            </a:endParaRPr>
          </a:p>
          <a:p>
            <a:pPr eaLnBrk="1" hangingPunct="1">
              <a:defRPr/>
            </a:pPr>
            <a:endParaRPr lang="en-GB" altLang="en-US" sz="1000" dirty="0">
              <a:solidFill>
                <a:schemeClr val="bg1"/>
              </a:solidFill>
              <a:effectLst>
                <a:outerShdw blurRad="38100" dist="38100" dir="2700000" algn="tl">
                  <a:srgbClr val="000000">
                    <a:alpha val="43137"/>
                  </a:srgbClr>
                </a:outerShdw>
              </a:effectLst>
              <a:latin typeface="+mn-ea"/>
              <a:cs typeface="Leelawadee UI" panose="020B0502040204020203" pitchFamily="34" charset="-34"/>
            </a:endParaRPr>
          </a:p>
        </p:txBody>
      </p:sp>
      <p:sp>
        <p:nvSpPr>
          <p:cNvPr id="3079" name="Text Box 11"/>
          <p:cNvSpPr txBox="1">
            <a:spLocks noChangeArrowheads="1"/>
          </p:cNvSpPr>
          <p:nvPr/>
        </p:nvSpPr>
        <p:spPr bwMode="auto">
          <a:xfrm>
            <a:off x="486568" y="482560"/>
            <a:ext cx="1502886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4000" b="1" dirty="0">
                <a:solidFill>
                  <a:schemeClr val="bg1"/>
                </a:solidFill>
              </a:rPr>
              <a:t>A Comparative Study: The Impact of AI Chatbot with Retrieval-Augmented Generation On Traditional Customer Service Information Systems in After-Sales Scenario</a:t>
            </a:r>
          </a:p>
          <a:p>
            <a:pPr algn="ctr" eaLnBrk="1" hangingPunct="1"/>
            <a:r>
              <a:rPr lang="en-GB" altLang="en-US" b="1" dirty="0">
                <a:solidFill>
                  <a:schemeClr val="bg1"/>
                </a:solidFill>
                <a:latin typeface="Leelawadee UI" panose="020B0502040204020203" pitchFamily="34" charset="-34"/>
                <a:cs typeface="Leelawadee UI" panose="020B0502040204020203" pitchFamily="34" charset="-34"/>
              </a:rPr>
              <a:t>Student: Name </a:t>
            </a:r>
            <a:r>
              <a:rPr lang="zh-CN" altLang="en-US" b="1" dirty="0">
                <a:solidFill>
                  <a:schemeClr val="bg1"/>
                </a:solidFill>
                <a:latin typeface="Leelawadee UI" panose="020B0502040204020203" pitchFamily="34" charset="-34"/>
                <a:cs typeface="Leelawadee UI" panose="020B0502040204020203" pitchFamily="34" charset="-34"/>
              </a:rPr>
              <a:t>：</a:t>
            </a:r>
            <a:r>
              <a:rPr lang="en-US" altLang="zh-CN" b="1" dirty="0">
                <a:solidFill>
                  <a:schemeClr val="bg1"/>
                </a:solidFill>
                <a:latin typeface="Leelawadee UI" panose="020B0502040204020203" pitchFamily="34" charset="-34"/>
                <a:cs typeface="Leelawadee UI" panose="020B0502040204020203" pitchFamily="34" charset="-34"/>
              </a:rPr>
              <a:t>Zhiyuan Xu</a:t>
            </a:r>
            <a:r>
              <a:rPr lang="en-GB" altLang="en-US" b="1" dirty="0">
                <a:solidFill>
                  <a:schemeClr val="bg1"/>
                </a:solidFill>
                <a:latin typeface="Leelawadee UI" panose="020B0502040204020203" pitchFamily="34" charset="-34"/>
                <a:cs typeface="Leelawadee UI" panose="020B0502040204020203" pitchFamily="34" charset="-34"/>
              </a:rPr>
              <a:t>					Supervisor Name :  Cian Murphy </a:t>
            </a:r>
          </a:p>
          <a:p>
            <a:pPr algn="ctr" eaLnBrk="1" hangingPunct="1"/>
            <a:endParaRPr lang="en-GB" altLang="en-US" sz="5400" b="1" dirty="0">
              <a:solidFill>
                <a:schemeClr val="bg1"/>
              </a:solidFill>
              <a:latin typeface="Leelawadee UI" panose="020B0502040204020203" pitchFamily="34" charset="-34"/>
              <a:cs typeface="Leelawadee UI" panose="020B0502040204020203" pitchFamily="34" charset="-34"/>
            </a:endParaRPr>
          </a:p>
        </p:txBody>
      </p:sp>
      <p:sp>
        <p:nvSpPr>
          <p:cNvPr id="2064" name="Text Box 16"/>
          <p:cNvSpPr txBox="1">
            <a:spLocks noChangeArrowheads="1"/>
          </p:cNvSpPr>
          <p:nvPr/>
        </p:nvSpPr>
        <p:spPr bwMode="auto">
          <a:xfrm>
            <a:off x="533400" y="3771900"/>
            <a:ext cx="7248525" cy="3886200"/>
          </a:xfrm>
          <a:prstGeom prst="rect">
            <a:avLst/>
          </a:prstGeom>
          <a:solidFill>
            <a:srgbClr val="435465"/>
          </a:solidFill>
          <a:ln>
            <a:noFill/>
          </a:ln>
          <a:effectLst/>
        </p:spPr>
        <p:txBody>
          <a:bodyPr/>
          <a:lstStyle/>
          <a:p>
            <a:pPr eaLnBrk="1" hangingPunct="1">
              <a:defRPr/>
            </a:pPr>
            <a:r>
              <a:rPr lang="en-IE" altLang="en-US" b="1" dirty="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Abstract</a:t>
            </a:r>
          </a:p>
          <a:p>
            <a:pPr eaLnBrk="1" hangingPunct="1">
              <a:defRPr/>
            </a:pPr>
            <a:endParaRPr lang="en-IE" altLang="zh-CN" sz="1600" dirty="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a:p>
            <a:pPr algn="just" eaLnBrk="1" hangingPunct="1">
              <a:defRPr/>
            </a:pPr>
            <a:r>
              <a:rPr lang="en-US" altLang="zh-CN" sz="1600" dirty="0">
                <a:solidFill>
                  <a:schemeClr val="bg1"/>
                </a:solidFill>
              </a:rPr>
              <a:t>This study investigates whether AI customer service systems enhanced by Retrieval-Augmented Generation (RAG) and Large Language Models (LLMs) can outperform traditional human service in e-commerce after-sales scenarios. It evaluates response efficiency, problem-solving accuracy, and customer satisfaction using the </a:t>
            </a:r>
            <a:r>
              <a:rPr lang="en-US" altLang="zh-CN" sz="1600" dirty="0" err="1">
                <a:solidFill>
                  <a:schemeClr val="bg1"/>
                </a:solidFill>
              </a:rPr>
              <a:t>DeLone</a:t>
            </a:r>
            <a:r>
              <a:rPr lang="en-US" altLang="zh-CN" sz="1600" dirty="0">
                <a:solidFill>
                  <a:schemeClr val="bg1"/>
                </a:solidFill>
              </a:rPr>
              <a:t> and McLean IS Success Model. A quantitative survey is used to compare user experiences and assess AI service effectiveness.</a:t>
            </a:r>
            <a:endParaRPr lang="en-GB" altLang="en-US" sz="1600" dirty="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p:txBody>
      </p:sp>
      <p:pic>
        <p:nvPicPr>
          <p:cNvPr id="3081" name="Picture 23" descr="Text&#10;&#10;Description automatically generated"/>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65213" y="19354800"/>
            <a:ext cx="5870575" cy="3276600"/>
          </a:xfrm>
          <a:prstGeom prst="rect">
            <a:avLst/>
          </a:prstGeom>
          <a:solidFill>
            <a:srgbClr val="43546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082" name="Picture 1"/>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72438" y="19499263"/>
            <a:ext cx="6831012" cy="298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Rectangle 27"/>
          <p:cNvSpPr/>
          <p:nvPr/>
        </p:nvSpPr>
        <p:spPr>
          <a:xfrm>
            <a:off x="0" y="2962275"/>
            <a:ext cx="16002000" cy="260350"/>
          </a:xfrm>
          <a:prstGeom prst="rect">
            <a:avLst/>
          </a:prstGeom>
          <a:solidFill>
            <a:srgbClr val="CF8D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graphicFrame>
        <p:nvGraphicFramePr>
          <p:cNvPr id="2" name="表格 1">
            <a:extLst>
              <a:ext uri="{FF2B5EF4-FFF2-40B4-BE49-F238E27FC236}">
                <a16:creationId xmlns:a16="http://schemas.microsoft.com/office/drawing/2014/main" id="{96F984BC-06DD-1614-9D81-AD0A49C6E448}"/>
              </a:ext>
            </a:extLst>
          </p:cNvPr>
          <p:cNvGraphicFramePr>
            <a:graphicFrameLocks noGrp="1"/>
          </p:cNvGraphicFramePr>
          <p:nvPr>
            <p:extLst>
              <p:ext uri="{D42A27DB-BD31-4B8C-83A1-F6EECF244321}">
                <p14:modId xmlns:p14="http://schemas.microsoft.com/office/powerpoint/2010/main" val="974782011"/>
              </p:ext>
            </p:extLst>
          </p:nvPr>
        </p:nvGraphicFramePr>
        <p:xfrm>
          <a:off x="8335013" y="3419962"/>
          <a:ext cx="7200900" cy="8476276"/>
        </p:xfrm>
        <a:graphic>
          <a:graphicData uri="http://schemas.openxmlformats.org/drawingml/2006/table">
            <a:tbl>
              <a:tblPr/>
              <a:tblGrid>
                <a:gridCol w="3600450">
                  <a:extLst>
                    <a:ext uri="{9D8B030D-6E8A-4147-A177-3AD203B41FA5}">
                      <a16:colId xmlns:a16="http://schemas.microsoft.com/office/drawing/2014/main" val="3104604401"/>
                    </a:ext>
                  </a:extLst>
                </a:gridCol>
                <a:gridCol w="3600450">
                  <a:extLst>
                    <a:ext uri="{9D8B030D-6E8A-4147-A177-3AD203B41FA5}">
                      <a16:colId xmlns:a16="http://schemas.microsoft.com/office/drawing/2014/main" val="1595765996"/>
                    </a:ext>
                  </a:extLst>
                </a:gridCol>
              </a:tblGrid>
              <a:tr h="520996">
                <a:tc>
                  <a:txBody>
                    <a:bodyPr/>
                    <a:lstStyle/>
                    <a:p>
                      <a:pPr>
                        <a:buNone/>
                      </a:pPr>
                      <a:r>
                        <a:rPr lang="en-US" sz="1800" i="1" u="sng" dirty="0">
                          <a:effectLst/>
                        </a:rPr>
                        <a:t>Key Terms</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800" i="1">
                          <a:effectLst/>
                        </a:rPr>
                        <a:t>Definitions</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63198836"/>
                  </a:ext>
                </a:extLst>
              </a:tr>
              <a:tr h="675292">
                <a:tc>
                  <a:txBody>
                    <a:bodyPr/>
                    <a:lstStyle/>
                    <a:p>
                      <a:pPr algn="just" rtl="0">
                        <a:buNone/>
                      </a:pPr>
                      <a:r>
                        <a:rPr lang="en-US" sz="1800" b="0" i="1">
                          <a:solidFill>
                            <a:srgbClr val="000000"/>
                          </a:solidFill>
                          <a:effectLst/>
                        </a:rPr>
                        <a:t>Customer Service Information</a:t>
                      </a:r>
                      <a:endParaRPr lang="en-US" sz="1800" i="1">
                        <a:effectLst/>
                      </a:endParaRPr>
                    </a:p>
                    <a:p>
                      <a:pPr algn="just" rtl="0">
                        <a:buNone/>
                      </a:pPr>
                      <a:r>
                        <a:rPr lang="en-US" sz="1800" b="0" i="1">
                          <a:solidFill>
                            <a:srgbClr val="000000"/>
                          </a:solidFill>
                          <a:effectLst/>
                        </a:rPr>
                        <a:t>System</a:t>
                      </a:r>
                      <a:endParaRPr lang="en-US" sz="1800" i="1">
                        <a:effectLst/>
                      </a:endParaRP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800">
                          <a:effectLst/>
                        </a:rPr>
                        <a:t>It is a system to design for interaction between the company and customer</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88540871"/>
                  </a:ext>
                </a:extLst>
              </a:tr>
              <a:tr h="1587241">
                <a:tc>
                  <a:txBody>
                    <a:bodyPr/>
                    <a:lstStyle/>
                    <a:p>
                      <a:pPr>
                        <a:buNone/>
                      </a:pPr>
                      <a:r>
                        <a:rPr lang="en-US" sz="1800" i="1">
                          <a:effectLst/>
                        </a:rPr>
                        <a:t>Retrieve Augment Generation</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lgn="just">
                        <a:buNone/>
                      </a:pPr>
                      <a:r>
                        <a:rPr lang="en-US" sz="1800" dirty="0">
                          <a:effectLst/>
                        </a:rPr>
                        <a:t>A technology that combines external knowledge retrieval with generative artificial intelligence models, by first retrieving relevant information and then generating answers, to enhance the accuracy and reliability of the content.</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47317084"/>
                  </a:ext>
                </a:extLst>
              </a:tr>
              <a:tr h="1587241">
                <a:tc>
                  <a:txBody>
                    <a:bodyPr/>
                    <a:lstStyle/>
                    <a:p>
                      <a:pPr>
                        <a:buNone/>
                      </a:pPr>
                      <a:r>
                        <a:rPr lang="en-US" sz="1800" i="1">
                          <a:effectLst/>
                        </a:rPr>
                        <a:t>Large Language Model</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lgn="just">
                        <a:buNone/>
                      </a:pPr>
                      <a:r>
                        <a:rPr lang="en-US" sz="1800" dirty="0">
                          <a:effectLst/>
                        </a:rPr>
                        <a:t>It is an artificial intelligence model trained on a large amount of text data, capable of understanding and generating natural language, and used for tasks such as answering questions, writing, and conversation.</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935624648"/>
                  </a:ext>
                </a:extLst>
              </a:tr>
              <a:tr h="1587241">
                <a:tc>
                  <a:txBody>
                    <a:bodyPr/>
                    <a:lstStyle/>
                    <a:p>
                      <a:pPr>
                        <a:buNone/>
                      </a:pPr>
                      <a:r>
                        <a:rPr lang="en-US" sz="1800" i="1">
                          <a:effectLst/>
                        </a:rPr>
                        <a:t>DeLone and McLean’s information system sucess</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lgn="just">
                        <a:buNone/>
                      </a:pPr>
                      <a:r>
                        <a:rPr lang="en-US" sz="1800" dirty="0">
                          <a:effectLst/>
                        </a:rPr>
                        <a:t>A model that assesses the success of an information system by factors such as system quality, information quality and service quality, which affect user usage and satisfaction, and ultimately generate personal and organizational benefits.</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00744528"/>
                  </a:ext>
                </a:extLst>
              </a:tr>
              <a:tr h="520996">
                <a:tc>
                  <a:txBody>
                    <a:bodyPr/>
                    <a:lstStyle/>
                    <a:p>
                      <a:pPr>
                        <a:buNone/>
                      </a:pPr>
                      <a:r>
                        <a:rPr lang="en-US" sz="1800" i="1">
                          <a:effectLst/>
                        </a:rPr>
                        <a:t>Artificial Intelligence Customer Service </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800">
                          <a:effectLst/>
                        </a:rPr>
                        <a:t>It is a service to serve customers by AI.</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83232402"/>
                  </a:ext>
                </a:extLst>
              </a:tr>
              <a:tr h="584773">
                <a:tc>
                  <a:txBody>
                    <a:bodyPr/>
                    <a:lstStyle/>
                    <a:p>
                      <a:pPr>
                        <a:buNone/>
                      </a:pPr>
                      <a:r>
                        <a:rPr lang="en-US" sz="1800" i="1">
                          <a:effectLst/>
                        </a:rPr>
                        <a:t>Human Customer Service</a:t>
                      </a:r>
                    </a:p>
                  </a:txBody>
                  <a:tcPr anchor="ctr">
                    <a:lnL w="10135" cap="flat" cmpd="sng" algn="ctr">
                      <a:solidFill>
                        <a:srgbClr val="000000"/>
                      </a:solidFill>
                      <a:prstDash val="solid"/>
                      <a:round/>
                      <a:headEnd type="none" w="med" len="med"/>
                      <a:tailEnd type="none" w="med" len="med"/>
                    </a:lnL>
                    <a:lnR w="10135" cap="flat" cmpd="sng" algn="ctr">
                      <a:solidFill>
                        <a:srgbClr val="7F7F7F"/>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800" dirty="0">
                          <a:effectLst/>
                        </a:rPr>
                        <a:t>It is a service to serve customers by human.</a:t>
                      </a:r>
                    </a:p>
                  </a:txBody>
                  <a:tcPr anchor="ctr">
                    <a:lnL w="10135" cap="flat" cmpd="sng" algn="ctr">
                      <a:solidFill>
                        <a:srgbClr val="7F7F7F"/>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45970371"/>
                  </a:ext>
                </a:extLst>
              </a:tr>
            </a:tbl>
          </a:graphicData>
        </a:graphic>
      </p:graphicFrame>
      <p:sp>
        <p:nvSpPr>
          <p:cNvPr id="4" name="Rectangle 1">
            <a:extLst>
              <a:ext uri="{FF2B5EF4-FFF2-40B4-BE49-F238E27FC236}">
                <a16:creationId xmlns:a16="http://schemas.microsoft.com/office/drawing/2014/main" id="{9C6E5E38-CCBB-FC88-3953-E4C1CAD4C1E0}"/>
              </a:ext>
            </a:extLst>
          </p:cNvPr>
          <p:cNvSpPr>
            <a:spLocks noChangeArrowheads="1"/>
          </p:cNvSpPr>
          <p:nvPr/>
        </p:nvSpPr>
        <p:spPr bwMode="auto">
          <a:xfrm>
            <a:off x="-775121" y="4499126"/>
            <a:ext cx="992121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Book Antiqua"/>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SP Poster Template 23 [Read-Only]" id="{CF1EE8C3-AD96-4160-BB66-35A7883882F2}" vid="{4348B4FB-4A66-4AC0-8C7C-B84372BED94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ISP Poster Template</Template>
  <TotalTime>50</TotalTime>
  <Words>776</Words>
  <Application>Microsoft Office PowerPoint</Application>
  <PresentationFormat>自定义</PresentationFormat>
  <Paragraphs>85</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Arial</vt:lpstr>
      <vt:lpstr>Book Antiqua</vt:lpstr>
      <vt:lpstr>Leelawadee UI</vt:lpstr>
      <vt:lpstr>Times New Roman</vt:lpstr>
      <vt:lpstr>Default Design</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(20115990) Zhiyuan Xu</dc:creator>
  <cp:lastModifiedBy>(20115990) Zhiyuan Xu</cp:lastModifiedBy>
  <cp:revision>2</cp:revision>
  <dcterms:created xsi:type="dcterms:W3CDTF">2026-03-21T18:01:19Z</dcterms:created>
  <dcterms:modified xsi:type="dcterms:W3CDTF">2026-03-21T18:52:11Z</dcterms:modified>
</cp:coreProperties>
</file>